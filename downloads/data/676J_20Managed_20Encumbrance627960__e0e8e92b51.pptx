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60" r:id="rId4"/>
  </p:sldMasterIdLst>
  <p:notesMasterIdLst>
    <p:notesMasterId r:id="rId30"/>
  </p:notesMasterIdLst>
  <p:handoutMasterIdLst>
    <p:handoutMasterId r:id="rId31"/>
  </p:handoutMasterIdLst>
  <p:sldIdLst>
    <p:sldId id="288" r:id="rId5"/>
    <p:sldId id="298" r:id="rId6"/>
    <p:sldId id="363" r:id="rId7"/>
    <p:sldId id="318" r:id="rId8"/>
    <p:sldId id="408" r:id="rId9"/>
    <p:sldId id="407" r:id="rId10"/>
    <p:sldId id="413" r:id="rId11"/>
    <p:sldId id="412" r:id="rId12"/>
    <p:sldId id="417" r:id="rId13"/>
    <p:sldId id="411" r:id="rId14"/>
    <p:sldId id="420" r:id="rId15"/>
    <p:sldId id="418" r:id="rId16"/>
    <p:sldId id="425" r:id="rId17"/>
    <p:sldId id="426" r:id="rId18"/>
    <p:sldId id="427" r:id="rId19"/>
    <p:sldId id="428" r:id="rId20"/>
    <p:sldId id="421" r:id="rId21"/>
    <p:sldId id="429" r:id="rId22"/>
    <p:sldId id="436" r:id="rId23"/>
    <p:sldId id="437" r:id="rId24"/>
    <p:sldId id="431" r:id="rId25"/>
    <p:sldId id="435" r:id="rId26"/>
    <p:sldId id="434" r:id="rId27"/>
    <p:sldId id="444" r:id="rId28"/>
    <p:sldId id="406" r:id="rId29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Trebuchet MS" panose="020B0603020202020204" pitchFamily="3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76">
          <p15:clr>
            <a:srgbClr val="A4A3A4"/>
          </p15:clr>
        </p15:guide>
        <p15:guide id="2" orient="horz">
          <p15:clr>
            <a:srgbClr val="A4A3A4"/>
          </p15:clr>
        </p15:guide>
        <p15:guide id="3" pos="5469">
          <p15:clr>
            <a:srgbClr val="A4A3A4"/>
          </p15:clr>
        </p15:guide>
        <p15:guide id="4" pos="29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rrin Landstrom" initials="DL" lastIdx="3" clrIdx="0">
    <p:extLst>
      <p:ext uri="{19B8F6BF-5375-455C-9EA6-DF929625EA0E}">
        <p15:presenceInfo xmlns:p15="http://schemas.microsoft.com/office/powerpoint/2012/main" userId="S::DLandstrom@misoenergy.org::3cb5c100-d51f-44c9-a76e-1ee28ca12c4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CA"/>
    <a:srgbClr val="57BFE3"/>
    <a:srgbClr val="DDF2F9"/>
    <a:srgbClr val="F5C400"/>
    <a:srgbClr val="82BC00"/>
    <a:srgbClr val="FA8D00"/>
    <a:srgbClr val="802500"/>
    <a:srgbClr val="5C66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3122" autoAdjust="0"/>
  </p:normalViewPr>
  <p:slideViewPr>
    <p:cSldViewPr snapToGrid="0" snapToObjects="1">
      <p:cViewPr varScale="1">
        <p:scale>
          <a:sx n="102" d="100"/>
          <a:sy n="102" d="100"/>
        </p:scale>
        <p:origin x="1128" y="108"/>
      </p:cViewPr>
      <p:guideLst>
        <p:guide orient="horz" pos="3876"/>
        <p:guide orient="horz"/>
        <p:guide pos="5469"/>
        <p:guide pos="29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8.fntdata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36221" y="228600"/>
            <a:ext cx="4336815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solidFill>
                <a:srgbClr val="5C6670"/>
              </a:solidFill>
              <a:latin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536220" y="8544102"/>
            <a:ext cx="4195705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800" dirty="0">
              <a:solidFill>
                <a:srgbClr val="5C6670"/>
              </a:solidFill>
              <a:latin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69185" y="8544102"/>
            <a:ext cx="76982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5D6C7-3014-BA41-BD83-1D0E54423B55}" type="slidenum">
              <a:rPr lang="en-US" sz="800" smtClean="0">
                <a:solidFill>
                  <a:srgbClr val="5C6670"/>
                </a:solidFill>
                <a:latin typeface="Arial"/>
                <a:cs typeface="Arial"/>
              </a:rPr>
              <a:t>‹#›</a:t>
            </a:fld>
            <a:endParaRPr lang="en-US" sz="800" dirty="0">
              <a:solidFill>
                <a:srgbClr val="5C6670"/>
              </a:solidFill>
              <a:latin typeface="Arial"/>
              <a:cs typeface="Arial"/>
            </a:endParaRPr>
          </a:p>
        </p:txBody>
      </p:sp>
      <p:pic>
        <p:nvPicPr>
          <p:cNvPr id="6" name="Picture 5" descr="Logo_COLOR Clr. ci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647" y="274636"/>
            <a:ext cx="875358" cy="36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332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2C049366-A22C-E940-8DC3-0CF6D071F16B}" type="datetimeFigureOut">
              <a:rPr lang="en-US" smtClean="0"/>
              <a:pPr/>
              <a:t>2/21/2023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1A326543-B50F-9048-99FD-07D9AB910C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721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596380" y="5732979"/>
            <a:ext cx="2547620" cy="112501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/>
            </a:endParaRPr>
          </a:p>
        </p:txBody>
      </p:sp>
      <p:sp>
        <p:nvSpPr>
          <p:cNvPr id="5" name="Isosceles Triangle 4"/>
          <p:cNvSpPr/>
          <p:nvPr userDrawn="1"/>
        </p:nvSpPr>
        <p:spPr>
          <a:xfrm rot="16200000">
            <a:off x="1952904" y="-333099"/>
            <a:ext cx="6858003" cy="7524192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" y="-1"/>
            <a:ext cx="4480135" cy="7287846"/>
            <a:chOff x="-2" y="-1"/>
            <a:chExt cx="4480135" cy="7287846"/>
          </a:xfrm>
        </p:grpSpPr>
        <p:sp>
          <p:nvSpPr>
            <p:cNvPr id="8" name="Right Triangle 7"/>
            <p:cNvSpPr/>
            <p:nvPr/>
          </p:nvSpPr>
          <p:spPr>
            <a:xfrm rot="5400000">
              <a:off x="-1403856" y="1403855"/>
              <a:ext cx="7287844" cy="4480135"/>
            </a:xfrm>
            <a:prstGeom prst="rtTriangle">
              <a:avLst/>
            </a:prstGeom>
            <a:solidFill>
              <a:srgbClr val="57BFE3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5400000">
              <a:off x="-1525963" y="1525960"/>
              <a:ext cx="6897078" cy="3845155"/>
            </a:xfrm>
            <a:prstGeom prst="rtTriangle">
              <a:avLst/>
            </a:prstGeom>
            <a:solidFill>
              <a:srgbClr val="0082CA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/>
              </a:endParaRPr>
            </a:p>
          </p:txBody>
        </p:sp>
      </p:grpSp>
      <p:sp>
        <p:nvSpPr>
          <p:cNvPr id="12" name="Oval 11"/>
          <p:cNvSpPr/>
          <p:nvPr userDrawn="1"/>
        </p:nvSpPr>
        <p:spPr>
          <a:xfrm>
            <a:off x="1537568" y="2580523"/>
            <a:ext cx="1715476" cy="1715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93520" y="4293828"/>
            <a:ext cx="3735893" cy="896676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02992" y="2657182"/>
            <a:ext cx="5326422" cy="1470025"/>
          </a:xfrm>
        </p:spPr>
        <p:txBody>
          <a:bodyPr anchor="ctr">
            <a:noAutofit/>
          </a:bodyPr>
          <a:lstStyle>
            <a:lvl1pPr algn="r">
              <a:lnSpc>
                <a:spcPct val="90000"/>
              </a:lnSpc>
              <a:defRPr sz="5000">
                <a:solidFill>
                  <a:srgbClr val="0082CA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14" name="Picture 13" descr="MISO Icon Only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072" y="2708598"/>
            <a:ext cx="1477419" cy="1473073"/>
          </a:xfrm>
          <a:prstGeom prst="rect">
            <a:avLst/>
          </a:prstGeom>
        </p:spPr>
      </p:pic>
      <p:pic>
        <p:nvPicPr>
          <p:cNvPr id="15" name="Picture 14" descr="MISO Logo - 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79" y="3165546"/>
            <a:ext cx="1087265" cy="45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28650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22639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Plain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28650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861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1330960"/>
          </a:xfrm>
          <a:prstGeom prst="rect">
            <a:avLst/>
          </a:prstGeom>
          <a:solidFill>
            <a:srgbClr val="0082CA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2865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86763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Plain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133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2865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88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 Summary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/>
          <p:cNvCxnSpPr/>
          <p:nvPr userDrawn="1"/>
        </p:nvCxnSpPr>
        <p:spPr>
          <a:xfrm>
            <a:off x="0" y="62865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 userDrawn="1"/>
        </p:nvGrpSpPr>
        <p:grpSpPr>
          <a:xfrm>
            <a:off x="-2" y="-1"/>
            <a:ext cx="4480135" cy="7287846"/>
            <a:chOff x="-2" y="-1"/>
            <a:chExt cx="4480135" cy="7287846"/>
          </a:xfrm>
        </p:grpSpPr>
        <p:sp>
          <p:nvSpPr>
            <p:cNvPr id="8" name="Right Triangle 7"/>
            <p:cNvSpPr/>
            <p:nvPr/>
          </p:nvSpPr>
          <p:spPr>
            <a:xfrm rot="5400000">
              <a:off x="-1403856" y="1403855"/>
              <a:ext cx="7287844" cy="4480135"/>
            </a:xfrm>
            <a:prstGeom prst="rtTriangle">
              <a:avLst/>
            </a:prstGeom>
            <a:solidFill>
              <a:srgbClr val="57BFE3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5400000">
              <a:off x="-1525963" y="1525960"/>
              <a:ext cx="6897078" cy="3845155"/>
            </a:xfrm>
            <a:prstGeom prst="rtTriangle">
              <a:avLst/>
            </a:prstGeom>
            <a:solidFill>
              <a:srgbClr val="0082CA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/>
              </a:endParaRPr>
            </a:p>
          </p:txBody>
        </p:sp>
      </p:grpSp>
      <p:sp>
        <p:nvSpPr>
          <p:cNvPr id="12" name="Oval 11"/>
          <p:cNvSpPr/>
          <p:nvPr userDrawn="1"/>
        </p:nvSpPr>
        <p:spPr>
          <a:xfrm>
            <a:off x="1537568" y="2580523"/>
            <a:ext cx="1715476" cy="1715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05263" y="1485900"/>
            <a:ext cx="4686300" cy="44561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>
          <a:xfrm>
            <a:off x="473075" y="651877"/>
            <a:ext cx="2522689" cy="1418746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dirty="0"/>
              <a:t>Executive Summary</a:t>
            </a:r>
          </a:p>
        </p:txBody>
      </p:sp>
      <p:pic>
        <p:nvPicPr>
          <p:cNvPr id="11" name="Picture 10" descr="MISO Icon Only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072" y="2708598"/>
            <a:ext cx="1477419" cy="147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57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 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/>
          <p:cNvCxnSpPr/>
          <p:nvPr userDrawn="1"/>
        </p:nvCxnSpPr>
        <p:spPr>
          <a:xfrm>
            <a:off x="0" y="62865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2783840" y="731521"/>
            <a:ext cx="6360160" cy="13309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" y="-1"/>
            <a:ext cx="4480135" cy="7287846"/>
            <a:chOff x="-2" y="-1"/>
            <a:chExt cx="4480135" cy="7287846"/>
          </a:xfrm>
        </p:grpSpPr>
        <p:sp>
          <p:nvSpPr>
            <p:cNvPr id="8" name="Right Triangle 7"/>
            <p:cNvSpPr/>
            <p:nvPr/>
          </p:nvSpPr>
          <p:spPr>
            <a:xfrm rot="5400000">
              <a:off x="-1403856" y="1403855"/>
              <a:ext cx="7287844" cy="4480135"/>
            </a:xfrm>
            <a:prstGeom prst="rtTriangle">
              <a:avLst/>
            </a:prstGeom>
            <a:solidFill>
              <a:srgbClr val="57BFE3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5400000">
              <a:off x="-1525963" y="1525960"/>
              <a:ext cx="6897078" cy="3845155"/>
            </a:xfrm>
            <a:prstGeom prst="rtTriangle">
              <a:avLst/>
            </a:prstGeom>
            <a:solidFill>
              <a:srgbClr val="0082CA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/>
              </a:endParaRPr>
            </a:p>
          </p:txBody>
        </p:sp>
      </p:grpSp>
      <p:sp>
        <p:nvSpPr>
          <p:cNvPr id="12" name="Oval 11"/>
          <p:cNvSpPr/>
          <p:nvPr userDrawn="1"/>
        </p:nvSpPr>
        <p:spPr>
          <a:xfrm>
            <a:off x="1537568" y="2580523"/>
            <a:ext cx="1715476" cy="1715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473075" y="651877"/>
            <a:ext cx="2522689" cy="1418746"/>
          </a:xfrm>
        </p:spPr>
        <p:txBody>
          <a:bodyPr anchor="ctr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dirty="0"/>
              <a:t>Executive Summary</a:t>
            </a:r>
          </a:p>
        </p:txBody>
      </p:sp>
      <p:pic>
        <p:nvPicPr>
          <p:cNvPr id="14" name="Picture 13" descr="MISO Icon Only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072" y="2708598"/>
            <a:ext cx="1477419" cy="147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18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-2" y="0"/>
            <a:ext cx="4480135" cy="7287846"/>
            <a:chOff x="-2" y="-1"/>
            <a:chExt cx="4480135" cy="7287846"/>
          </a:xfrm>
        </p:grpSpPr>
        <p:sp>
          <p:nvSpPr>
            <p:cNvPr id="7" name="Right Triangle 6"/>
            <p:cNvSpPr/>
            <p:nvPr/>
          </p:nvSpPr>
          <p:spPr>
            <a:xfrm rot="5400000">
              <a:off x="-1403856" y="1403855"/>
              <a:ext cx="7287844" cy="4480135"/>
            </a:xfrm>
            <a:prstGeom prst="rtTriangle">
              <a:avLst/>
            </a:prstGeom>
            <a:solidFill>
              <a:srgbClr val="57BFE3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/>
              </a:endParaRPr>
            </a:p>
          </p:txBody>
        </p:sp>
        <p:sp>
          <p:nvSpPr>
            <p:cNvPr id="8" name="Right Triangle 7"/>
            <p:cNvSpPr/>
            <p:nvPr/>
          </p:nvSpPr>
          <p:spPr>
            <a:xfrm rot="5400000">
              <a:off x="-1525963" y="1525960"/>
              <a:ext cx="6897078" cy="3845155"/>
            </a:xfrm>
            <a:prstGeom prst="rtTriangle">
              <a:avLst/>
            </a:prstGeom>
            <a:solidFill>
              <a:srgbClr val="0082CA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474975" y="6427347"/>
            <a:ext cx="6209437" cy="224535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algn="l"/>
            <a:fld id="{5418C714-E4A3-9C4C-B882-7146B918963D}" type="slidenum">
              <a:rPr lang="en-US" smtClean="0"/>
              <a:pPr algn="l"/>
              <a:t>‹#›</a:t>
            </a:fld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252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>
            <a:off x="91865" y="628650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>
          <a:xfrm>
            <a:off x="4663865" y="0"/>
            <a:ext cx="4480135" cy="7287846"/>
            <a:chOff x="-2" y="-1"/>
            <a:chExt cx="4480135" cy="7287846"/>
          </a:xfrm>
          <a:solidFill>
            <a:schemeClr val="accent3"/>
          </a:solidFill>
        </p:grpSpPr>
        <p:sp>
          <p:nvSpPr>
            <p:cNvPr id="11" name="Right Triangle 10"/>
            <p:cNvSpPr/>
            <p:nvPr/>
          </p:nvSpPr>
          <p:spPr>
            <a:xfrm rot="5400000">
              <a:off x="-1403856" y="1403855"/>
              <a:ext cx="7287844" cy="448013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/>
              </a:endParaRPr>
            </a:p>
          </p:txBody>
        </p:sp>
        <p:sp>
          <p:nvSpPr>
            <p:cNvPr id="12" name="Right Triangle 11"/>
            <p:cNvSpPr/>
            <p:nvPr/>
          </p:nvSpPr>
          <p:spPr>
            <a:xfrm rot="5400000">
              <a:off x="-1525963" y="1525960"/>
              <a:ext cx="6897078" cy="3845155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/>
              </a:endParaRPr>
            </a:p>
          </p:txBody>
        </p:sp>
      </p:grpSp>
      <p:sp>
        <p:nvSpPr>
          <p:cNvPr id="13" name="Rectangle 12"/>
          <p:cNvSpPr/>
          <p:nvPr userDrawn="1"/>
        </p:nvSpPr>
        <p:spPr>
          <a:xfrm>
            <a:off x="0" y="0"/>
            <a:ext cx="4663865" cy="68970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/>
            </a:endParaRPr>
          </a:p>
        </p:txBody>
      </p:sp>
      <p:sp>
        <p:nvSpPr>
          <p:cNvPr id="15" name="Title 2"/>
          <p:cNvSpPr>
            <a:spLocks noGrp="1"/>
          </p:cNvSpPr>
          <p:nvPr>
            <p:ph type="title" hasCustomPrompt="1"/>
          </p:nvPr>
        </p:nvSpPr>
        <p:spPr>
          <a:xfrm>
            <a:off x="473075" y="2197245"/>
            <a:ext cx="6018036" cy="1418746"/>
          </a:xfrm>
        </p:spPr>
        <p:txBody>
          <a:bodyPr anchor="ctr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dirty="0"/>
              <a:t>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309677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596380" y="5732979"/>
            <a:ext cx="2547620" cy="112501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/>
            </a:endParaRPr>
          </a:p>
        </p:txBody>
      </p:sp>
      <p:sp>
        <p:nvSpPr>
          <p:cNvPr id="5" name="Isosceles Triangle 4"/>
          <p:cNvSpPr/>
          <p:nvPr userDrawn="1"/>
        </p:nvSpPr>
        <p:spPr>
          <a:xfrm rot="16200000">
            <a:off x="1952904" y="-333099"/>
            <a:ext cx="6858003" cy="7524192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" y="-1"/>
            <a:ext cx="4480135" cy="7287846"/>
            <a:chOff x="-2" y="-1"/>
            <a:chExt cx="4480135" cy="7287846"/>
          </a:xfrm>
        </p:grpSpPr>
        <p:sp>
          <p:nvSpPr>
            <p:cNvPr id="8" name="Right Triangle 7"/>
            <p:cNvSpPr/>
            <p:nvPr/>
          </p:nvSpPr>
          <p:spPr>
            <a:xfrm rot="5400000">
              <a:off x="-1403856" y="1403855"/>
              <a:ext cx="7287844" cy="4480135"/>
            </a:xfrm>
            <a:prstGeom prst="rtTriangle">
              <a:avLst/>
            </a:prstGeom>
            <a:solidFill>
              <a:srgbClr val="57BFE3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5400000">
              <a:off x="-1525963" y="1525960"/>
              <a:ext cx="6897078" cy="3845155"/>
            </a:xfrm>
            <a:prstGeom prst="rtTriangle">
              <a:avLst/>
            </a:prstGeom>
            <a:solidFill>
              <a:srgbClr val="0082CA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/>
              </a:endParaRPr>
            </a:p>
          </p:txBody>
        </p:sp>
      </p:grpSp>
      <p:sp>
        <p:nvSpPr>
          <p:cNvPr id="12" name="Oval 11"/>
          <p:cNvSpPr/>
          <p:nvPr userDrawn="1"/>
        </p:nvSpPr>
        <p:spPr>
          <a:xfrm>
            <a:off x="1537568" y="2580523"/>
            <a:ext cx="1715476" cy="1715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/>
            </a:endParaRPr>
          </a:p>
        </p:txBody>
      </p:sp>
      <p:pic>
        <p:nvPicPr>
          <p:cNvPr id="13" name="Picture 12" descr="Logo_WHITE wCOLOR burst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" t="21960" r="74252" b="18195"/>
          <a:stretch/>
        </p:blipFill>
        <p:spPr>
          <a:xfrm>
            <a:off x="1619809" y="2657182"/>
            <a:ext cx="1548693" cy="15960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02992" y="2657182"/>
            <a:ext cx="5326422" cy="1470025"/>
          </a:xfrm>
        </p:spPr>
        <p:txBody>
          <a:bodyPr anchor="ctr">
            <a:noAutofit/>
          </a:bodyPr>
          <a:lstStyle>
            <a:lvl1pPr algn="ctr">
              <a:defRPr sz="6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Questions?</a:t>
            </a:r>
          </a:p>
        </p:txBody>
      </p:sp>
      <p:pic>
        <p:nvPicPr>
          <p:cNvPr id="11" name="Picture 10" descr="MISO Logo - 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79" y="3165546"/>
            <a:ext cx="1087265" cy="45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08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lain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074" y="4406900"/>
            <a:ext cx="8208963" cy="1362075"/>
          </a:xfrm>
        </p:spPr>
        <p:txBody>
          <a:bodyPr anchor="t"/>
          <a:lstStyle>
            <a:lvl1pPr algn="l">
              <a:defRPr sz="4000" b="0" cap="all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3074" y="2906713"/>
            <a:ext cx="820896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601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Plain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151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754190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473075" y="1417638"/>
            <a:ext cx="8213725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157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73075" y="274638"/>
            <a:ext cx="8213725" cy="1143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7688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53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3075" y="274638"/>
            <a:ext cx="82137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3075" y="1417638"/>
            <a:ext cx="8213725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47307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MISO Logo.png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924" y="6432636"/>
            <a:ext cx="668907" cy="28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0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0" r:id="rId3"/>
    <p:sldLayoutId id="2147483677" r:id="rId4"/>
    <p:sldLayoutId id="2147483681" r:id="rId5"/>
    <p:sldLayoutId id="2147483676" r:id="rId6"/>
    <p:sldLayoutId id="2147483678" r:id="rId7"/>
    <p:sldLayoutId id="2147483669" r:id="rId8"/>
    <p:sldLayoutId id="2147483682" r:id="rId9"/>
    <p:sldLayoutId id="2147483675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79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82CA"/>
          </a:solidFill>
          <a:latin typeface="+mj-lt"/>
          <a:ea typeface="+mj-ea"/>
          <a:cs typeface="Arial"/>
        </a:defRPr>
      </a:lvl1pPr>
    </p:titleStyle>
    <p:bodyStyle>
      <a:lvl1pPr marL="457200" indent="-457200" algn="l" defTabSz="457200" rtl="0" eaLnBrk="1" latinLnBrk="0" hangingPunct="1">
        <a:lnSpc>
          <a:spcPct val="114000"/>
        </a:lnSpc>
        <a:spcBef>
          <a:spcPct val="20000"/>
        </a:spcBef>
        <a:buClr>
          <a:srgbClr val="0082CA"/>
        </a:buClr>
        <a:buSzPct val="80000"/>
        <a:buFont typeface="Arial"/>
        <a:buChar char="•"/>
        <a:defRPr sz="3200" kern="1200">
          <a:solidFill>
            <a:schemeClr val="tx1"/>
          </a:solidFill>
          <a:latin typeface="+mj-lt"/>
          <a:ea typeface="+mn-ea"/>
          <a:cs typeface="Arial"/>
        </a:defRPr>
      </a:lvl1pPr>
      <a:lvl2pPr marL="914400" indent="-457200" algn="l" defTabSz="457200" rtl="0" eaLnBrk="1" latinLnBrk="0" hangingPunct="1">
        <a:lnSpc>
          <a:spcPct val="114000"/>
        </a:lnSpc>
        <a:spcBef>
          <a:spcPct val="20000"/>
        </a:spcBef>
        <a:buClr>
          <a:srgbClr val="5C6670"/>
        </a:buClr>
        <a:buSzPct val="80000"/>
        <a:buFont typeface="Arial"/>
        <a:buChar char="•"/>
        <a:defRPr sz="2800" kern="1200">
          <a:solidFill>
            <a:schemeClr val="tx1"/>
          </a:solidFill>
          <a:latin typeface="+mj-lt"/>
          <a:ea typeface="+mn-ea"/>
          <a:cs typeface="Arial"/>
        </a:defRPr>
      </a:lvl2pPr>
      <a:lvl3pPr marL="1257300" indent="-342900" algn="l" defTabSz="457200" rtl="0" eaLnBrk="1" latinLnBrk="0" hangingPunct="1">
        <a:lnSpc>
          <a:spcPct val="114000"/>
        </a:lnSpc>
        <a:spcBef>
          <a:spcPct val="20000"/>
        </a:spcBef>
        <a:buClr>
          <a:srgbClr val="57BFE3"/>
        </a:buClr>
        <a:buSzPct val="80000"/>
        <a:buFont typeface="Arial"/>
        <a:buChar char="•"/>
        <a:defRPr sz="2400" kern="1200">
          <a:solidFill>
            <a:schemeClr val="tx1"/>
          </a:solidFill>
          <a:latin typeface="+mj-lt"/>
          <a:ea typeface="+mn-ea"/>
          <a:cs typeface="Arial"/>
        </a:defRPr>
      </a:lvl3pPr>
      <a:lvl4pPr marL="1714500" indent="-342900" algn="l" defTabSz="457200" rtl="0" eaLnBrk="1" latinLnBrk="0" hangingPunct="1">
        <a:lnSpc>
          <a:spcPct val="114000"/>
        </a:lnSpc>
        <a:spcBef>
          <a:spcPct val="20000"/>
        </a:spcBef>
        <a:buClr>
          <a:srgbClr val="57BFE3"/>
        </a:buClr>
        <a:buSzPct val="80000"/>
        <a:buFont typeface="Arial"/>
        <a:buChar char="•"/>
        <a:defRPr sz="2000" kern="1200">
          <a:solidFill>
            <a:schemeClr val="tx1"/>
          </a:solidFill>
          <a:latin typeface="+mj-lt"/>
          <a:ea typeface="+mn-ea"/>
          <a:cs typeface="Arial"/>
        </a:defRPr>
      </a:lvl4pPr>
      <a:lvl5pPr marL="2171700" indent="-342900" algn="l" defTabSz="457200" rtl="0" eaLnBrk="1" latinLnBrk="0" hangingPunct="1">
        <a:lnSpc>
          <a:spcPct val="114000"/>
        </a:lnSpc>
        <a:spcBef>
          <a:spcPct val="20000"/>
        </a:spcBef>
        <a:buClr>
          <a:srgbClr val="57BFE3"/>
        </a:buClr>
        <a:buSzPct val="80000"/>
        <a:buFont typeface="Arial"/>
        <a:buChar char="•"/>
        <a:defRPr sz="2000" kern="1200">
          <a:solidFill>
            <a:schemeClr val="tx1"/>
          </a:solidFill>
          <a:latin typeface="+mj-lt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ilto:DLandstrom@misoenergy.org" TargetMode="External"/><Relationship Id="rId2" Type="http://schemas.openxmlformats.org/officeDocument/2006/relationships/hyperlink" Target="mailto:JMarhoefer@misoenergy.org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646842" y="4293828"/>
            <a:ext cx="5082571" cy="896676"/>
          </a:xfrm>
        </p:spPr>
        <p:txBody>
          <a:bodyPr>
            <a:normAutofit/>
          </a:bodyPr>
          <a:lstStyle/>
          <a:p>
            <a:r>
              <a:rPr lang="en-US" b="0" dirty="0"/>
              <a:t>2023 G&amp;I Training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174124" y="2657182"/>
            <a:ext cx="5555290" cy="1470025"/>
          </a:xfrm>
        </p:spPr>
        <p:txBody>
          <a:bodyPr/>
          <a:lstStyle/>
          <a:p>
            <a:r>
              <a:rPr lang="en-US" sz="4000" b="1" dirty="0"/>
              <a:t>FERC Order 676j Managed Encumbrance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2133600" cy="365125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617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Managed Encumbrance</a:t>
            </a:r>
          </a:p>
        </p:txBody>
      </p:sp>
    </p:spTree>
    <p:extLst>
      <p:ext uri="{BB962C8B-B14F-4D97-AF65-F5344CB8AC3E}">
        <p14:creationId xmlns:p14="http://schemas.microsoft.com/office/powerpoint/2010/main" val="303981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749A-4414-427F-A15B-47DB6C35F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9903"/>
            <a:ext cx="9143999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FERC Order 676j – </a:t>
            </a:r>
            <a:br>
              <a:rPr lang="en-US" sz="3600" dirty="0"/>
            </a:br>
            <a:r>
              <a:rPr lang="en-US" sz="3600" dirty="0"/>
              <a:t>Managed Encumbrance and Dynamic Notifications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35C52-D13F-4D4B-AE2D-00EF9698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Managed Encumbrance</a:t>
            </a:r>
          </a:p>
          <a:p>
            <a:pPr lvl="1"/>
            <a:r>
              <a:rPr lang="en-US" dirty="0"/>
              <a:t>An allocation of unconditional (not subject to Preemption) Firm Transmission Services that is set-aside in part or full and is treated in a manner similar to firm scheduled use of reserved capacity.</a:t>
            </a: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Dynamic Notifications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The Notification Entry has been updated to show the e-mail addresses in list format, allowing OASIS users to easily add/delete rows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AF033-DB00-402E-A8D7-789C6D9752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118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Adding New Managed Encumbrance – Untagged Pseudo-Ties</a:t>
            </a:r>
          </a:p>
        </p:txBody>
      </p:sp>
    </p:spTree>
    <p:extLst>
      <p:ext uri="{BB962C8B-B14F-4D97-AF65-F5344CB8AC3E}">
        <p14:creationId xmlns:p14="http://schemas.microsoft.com/office/powerpoint/2010/main" val="1177819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5137" y="353114"/>
            <a:ext cx="8213725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New Managed Encumbrance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F27634-698A-43C0-9612-FFF8D1D76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067" y="1887038"/>
            <a:ext cx="4580959" cy="35588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2A177FE-9938-4D97-92E5-F13ED810FAB1}"/>
              </a:ext>
            </a:extLst>
          </p:cNvPr>
          <p:cNvSpPr/>
          <p:nvPr/>
        </p:nvSpPr>
        <p:spPr>
          <a:xfrm>
            <a:off x="7070286" y="3606911"/>
            <a:ext cx="1514308" cy="61227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CBA8E4-6F81-4F17-9B5A-26CE9BA0C48E}"/>
              </a:ext>
            </a:extLst>
          </p:cNvPr>
          <p:cNvSpPr txBox="1"/>
          <p:nvPr/>
        </p:nvSpPr>
        <p:spPr>
          <a:xfrm>
            <a:off x="0" y="1752031"/>
            <a:ext cx="356706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Log onto OASIS</a:t>
            </a:r>
          </a:p>
          <a:p>
            <a:pPr lvl="1"/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Click on the Transactions dropdown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Select either Encumbrances or Encumbrance Request Summary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6B485E-B827-4A09-B2B2-A15500568793}"/>
              </a:ext>
            </a:extLst>
          </p:cNvPr>
          <p:cNvCxnSpPr>
            <a:cxnSpLocks/>
          </p:cNvCxnSpPr>
          <p:nvPr/>
        </p:nvCxnSpPr>
        <p:spPr>
          <a:xfrm flipV="1">
            <a:off x="2705493" y="2001544"/>
            <a:ext cx="2696066" cy="1081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CBDADA-8918-4CE9-965F-4A51545C1BBB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308808" y="3913051"/>
            <a:ext cx="3761478" cy="697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4EC99E5-1635-433F-9668-93880F2BC93D}"/>
              </a:ext>
            </a:extLst>
          </p:cNvPr>
          <p:cNvSpPr/>
          <p:nvPr/>
        </p:nvSpPr>
        <p:spPr>
          <a:xfrm>
            <a:off x="5401559" y="1887038"/>
            <a:ext cx="760491" cy="22901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92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5137" y="353114"/>
            <a:ext cx="8213725" cy="11430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New Encumbrance Request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30B83A-531D-4029-9A4C-ED808D8B2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94" y="4825428"/>
            <a:ext cx="7639050" cy="13716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014F16-0F60-4D4E-BF5C-147B53913965}"/>
              </a:ext>
            </a:extLst>
          </p:cNvPr>
          <p:cNvSpPr txBox="1"/>
          <p:nvPr/>
        </p:nvSpPr>
        <p:spPr>
          <a:xfrm>
            <a:off x="241728" y="3241821"/>
            <a:ext cx="78864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When clicking on the      icon an Encumbrance Request Entry box will open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Enter the Encumbrance Information by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Selecting the Transmission Provider from the dropdown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Selecting NEW in the Encumbrance Ref dropdown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D84761F-6E35-4735-94CA-3D229B19C534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8" y="2128564"/>
            <a:ext cx="8503920" cy="73152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D07FDEF-ADE8-4443-867B-352773F944A6}"/>
              </a:ext>
            </a:extLst>
          </p:cNvPr>
          <p:cNvSpPr txBox="1"/>
          <p:nvPr/>
        </p:nvSpPr>
        <p:spPr>
          <a:xfrm>
            <a:off x="0" y="1346772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Once the Encumbrances or Encumbrance Request Summary is open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Click on the       icon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F7D44E3-A2E3-4F0B-8871-35BF46866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297" y="1665591"/>
            <a:ext cx="257175" cy="28575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FF13017-0451-47B1-8FF3-D8EB012486AA}"/>
              </a:ext>
            </a:extLst>
          </p:cNvPr>
          <p:cNvSpPr/>
          <p:nvPr/>
        </p:nvSpPr>
        <p:spPr>
          <a:xfrm>
            <a:off x="7461560" y="2615941"/>
            <a:ext cx="215774" cy="2456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228040F-83A0-7A2A-40F1-6765154DE66E}"/>
              </a:ext>
            </a:extLst>
          </p:cNvPr>
          <p:cNvCxnSpPr>
            <a:cxnSpLocks/>
            <a:stCxn id="26" idx="2"/>
            <a:endCxn id="27" idx="1"/>
          </p:cNvCxnSpPr>
          <p:nvPr/>
        </p:nvCxnSpPr>
        <p:spPr>
          <a:xfrm>
            <a:off x="2218885" y="1951341"/>
            <a:ext cx="5242675" cy="7874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7277334-5373-C23B-CBE8-6F9710E3B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525" y="3292830"/>
            <a:ext cx="25717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342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5137" y="353114"/>
            <a:ext cx="8213725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New Encumbrance Request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F98FB8-F13B-4BA6-9C1D-3FD0D238D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0" y="2867464"/>
            <a:ext cx="8352938" cy="27604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D4D0ED-3921-D126-9D6D-533335563A44}"/>
              </a:ext>
            </a:extLst>
          </p:cNvPr>
          <p:cNvSpPr txBox="1"/>
          <p:nvPr/>
        </p:nvSpPr>
        <p:spPr>
          <a:xfrm>
            <a:off x="0" y="1666576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Once the Encumbrance Information has been chosen the Encumbrance Details and Encumbrance Profiles will pop up to be filled in</a:t>
            </a:r>
          </a:p>
        </p:txBody>
      </p:sp>
    </p:spTree>
    <p:extLst>
      <p:ext uri="{BB962C8B-B14F-4D97-AF65-F5344CB8AC3E}">
        <p14:creationId xmlns:p14="http://schemas.microsoft.com/office/powerpoint/2010/main" val="3181547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08766E2-1764-4A8D-A15A-0E194FA3F5C3}"/>
              </a:ext>
            </a:extLst>
          </p:cNvPr>
          <p:cNvSpPr txBox="1"/>
          <p:nvPr/>
        </p:nvSpPr>
        <p:spPr>
          <a:xfrm>
            <a:off x="0" y="1364972"/>
            <a:ext cx="914399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Fill in required boxes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Select Customer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Reduction Type: UNTAGGED_PSEUDO_TIE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Select Pseudo-Tie ID from the dropdown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Fill in the POR/POD (Path will the auto populate), Start/Stop Time and MWs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Enter the PTP TSR number in the Encumbered Ref box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Click the Submit button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214B54-EC02-47F2-B59A-4D22EC8EC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35" y="3475212"/>
            <a:ext cx="8213725" cy="2739295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5135" y="136525"/>
            <a:ext cx="8213725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New Untagged Pseudo Tie </a:t>
            </a:r>
            <a:br>
              <a:rPr lang="en-US" dirty="0"/>
            </a:br>
            <a:r>
              <a:rPr lang="en-US" dirty="0"/>
              <a:t>Using PTP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D8474C-84CD-4E48-A6B6-C495E64D62AC}"/>
              </a:ext>
            </a:extLst>
          </p:cNvPr>
          <p:cNvSpPr/>
          <p:nvPr/>
        </p:nvSpPr>
        <p:spPr>
          <a:xfrm>
            <a:off x="4015172" y="4409468"/>
            <a:ext cx="1525512" cy="19917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22C0A6-3E0C-4272-B350-42A189F40C36}"/>
              </a:ext>
            </a:extLst>
          </p:cNvPr>
          <p:cNvSpPr/>
          <p:nvPr/>
        </p:nvSpPr>
        <p:spPr>
          <a:xfrm>
            <a:off x="5718725" y="4399640"/>
            <a:ext cx="1525512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E753C0-F5E0-4BE1-997A-66BE43E5C025}"/>
              </a:ext>
            </a:extLst>
          </p:cNvPr>
          <p:cNvSpPr/>
          <p:nvPr/>
        </p:nvSpPr>
        <p:spPr>
          <a:xfrm>
            <a:off x="7300055" y="5417799"/>
            <a:ext cx="1119610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3E082D-8AEA-6ED9-A9D2-8EF2B64AE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333" y="3183578"/>
            <a:ext cx="352425" cy="24765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513D901-5C63-0E2F-5A58-EE6B6BD75942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4088758" y="3307403"/>
            <a:ext cx="4231380" cy="272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754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1A95EBB-0DA1-26C9-2FA5-2D4F222E7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37" y="3504137"/>
            <a:ext cx="8213725" cy="275762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5137" y="136525"/>
            <a:ext cx="8213725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New Untagged Pseudo Tie </a:t>
            </a:r>
            <a:br>
              <a:rPr lang="en-US" dirty="0"/>
            </a:br>
            <a:r>
              <a:rPr lang="en-US" dirty="0"/>
              <a:t>Using NITS TSR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A5A38-DAC1-43FB-B513-CAC3DB01BE18}"/>
              </a:ext>
            </a:extLst>
          </p:cNvPr>
          <p:cNvSpPr/>
          <p:nvPr/>
        </p:nvSpPr>
        <p:spPr>
          <a:xfrm>
            <a:off x="4018570" y="4406708"/>
            <a:ext cx="1525512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7039F5-F2EC-4C39-A329-443807BCC8BE}"/>
              </a:ext>
            </a:extLst>
          </p:cNvPr>
          <p:cNvSpPr/>
          <p:nvPr/>
        </p:nvSpPr>
        <p:spPr>
          <a:xfrm>
            <a:off x="5679510" y="4406708"/>
            <a:ext cx="1525512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17740F-C10E-45DE-BFCD-DB05C09178B8}"/>
              </a:ext>
            </a:extLst>
          </p:cNvPr>
          <p:cNvSpPr/>
          <p:nvPr/>
        </p:nvSpPr>
        <p:spPr>
          <a:xfrm>
            <a:off x="7270678" y="5443363"/>
            <a:ext cx="1149798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92E49-903D-6B27-411F-736BDC8141D5}"/>
              </a:ext>
            </a:extLst>
          </p:cNvPr>
          <p:cNvSpPr txBox="1"/>
          <p:nvPr/>
        </p:nvSpPr>
        <p:spPr>
          <a:xfrm>
            <a:off x="-1" y="1353056"/>
            <a:ext cx="908062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Fill in required boxes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Select Customer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Reduction Type: UNTAGGED_PSEUDO_TIE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Select Pseudo-Tie ID from the dropdown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Fill in the POR/POD (Path will the auto populate), Start/Stop Time and MWs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Enter the NITS TSR number in the Encumbered Ref box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Click the Submit button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28070A-FCDD-2FE8-8DBE-2C9E6689D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333" y="3183578"/>
            <a:ext cx="352425" cy="24765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EE0CD9-91E1-4F1C-E3DC-7FC50E8C593D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088758" y="3307403"/>
            <a:ext cx="4231380" cy="272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603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798C0DB-CB0A-4CF7-BA8A-E1FD74294B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87"/>
          <a:stretch/>
        </p:blipFill>
        <p:spPr>
          <a:xfrm>
            <a:off x="433449" y="3628127"/>
            <a:ext cx="8213725" cy="2558101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5137" y="136525"/>
            <a:ext cx="8213725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New Untagged Pseudo Tie </a:t>
            </a:r>
            <a:br>
              <a:rPr lang="en-US" dirty="0"/>
            </a:br>
            <a:r>
              <a:rPr lang="en-US" dirty="0"/>
              <a:t>Using NITS Application Number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A5A38-DAC1-43FB-B513-CAC3DB01BE18}"/>
              </a:ext>
            </a:extLst>
          </p:cNvPr>
          <p:cNvSpPr/>
          <p:nvPr/>
        </p:nvSpPr>
        <p:spPr>
          <a:xfrm>
            <a:off x="4015211" y="4506291"/>
            <a:ext cx="1525512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7039F5-F2EC-4C39-A329-443807BCC8BE}"/>
              </a:ext>
            </a:extLst>
          </p:cNvPr>
          <p:cNvSpPr/>
          <p:nvPr/>
        </p:nvSpPr>
        <p:spPr>
          <a:xfrm>
            <a:off x="5703677" y="4506291"/>
            <a:ext cx="1525512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17740F-C10E-45DE-BFCD-DB05C09178B8}"/>
              </a:ext>
            </a:extLst>
          </p:cNvPr>
          <p:cNvSpPr/>
          <p:nvPr/>
        </p:nvSpPr>
        <p:spPr>
          <a:xfrm>
            <a:off x="7278983" y="5497681"/>
            <a:ext cx="1149798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6125B3-AD6F-46D7-AFE0-29242A86991C}"/>
              </a:ext>
            </a:extLst>
          </p:cNvPr>
          <p:cNvSpPr/>
          <p:nvPr/>
        </p:nvSpPr>
        <p:spPr>
          <a:xfrm>
            <a:off x="662593" y="5714964"/>
            <a:ext cx="2154731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92E49-903D-6B27-411F-736BDC8141D5}"/>
              </a:ext>
            </a:extLst>
          </p:cNvPr>
          <p:cNvSpPr txBox="1"/>
          <p:nvPr/>
        </p:nvSpPr>
        <p:spPr>
          <a:xfrm>
            <a:off x="-1" y="1229507"/>
            <a:ext cx="908062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Fill in required boxes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Select Customer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Reduction Type: UNTAGGED_PSEUDO_TIE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Select Pseudo-Tie ID from the dropdown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Fill in the POR/POD (Path will the auto populate), Start/Stop Time and MWs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Enter the NITS Application number in the Encumbered Ref box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Enter the Encumbered Resource name exactly as registered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Click the Submit button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6EF184-3053-3863-A943-9E9978571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321" y="3310320"/>
            <a:ext cx="352425" cy="24765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C486CE-8465-0DC0-E59F-2AA61F0E0E3C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105746" y="3434145"/>
            <a:ext cx="4231380" cy="266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939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1D3F014-3F06-4C72-A045-A94B6F99C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37" y="2907664"/>
            <a:ext cx="8213725" cy="3301383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5137" y="353114"/>
            <a:ext cx="8213725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New Untagged Pseudo-Tie</a:t>
            </a:r>
            <a:br>
              <a:rPr lang="en-US" dirty="0"/>
            </a:br>
            <a:r>
              <a:rPr lang="en-US" dirty="0"/>
              <a:t>Using NITS Application Number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D9631-0D80-4195-AD8B-51B9BB06E83B}"/>
              </a:ext>
            </a:extLst>
          </p:cNvPr>
          <p:cNvSpPr txBox="1"/>
          <p:nvPr/>
        </p:nvSpPr>
        <p:spPr>
          <a:xfrm>
            <a:off x="0" y="1402123"/>
            <a:ext cx="9144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Use of NITS Application Number and NITS Resource Errors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Must enter the correct NITS Application number in the Encumbered Ref box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Must enter the Encumbered Resource name as registered in webTrans Application Detail – NITS Resource Description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either are entered incorrectly a Data Entry Error will pop 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D072D3-FBF0-4524-CFFB-126A3D3547A3}"/>
              </a:ext>
            </a:extLst>
          </p:cNvPr>
          <p:cNvSpPr/>
          <p:nvPr/>
        </p:nvSpPr>
        <p:spPr>
          <a:xfrm>
            <a:off x="644487" y="5687805"/>
            <a:ext cx="2154731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5AB67-7A54-BC33-2691-28099352A2F3}"/>
              </a:ext>
            </a:extLst>
          </p:cNvPr>
          <p:cNvSpPr/>
          <p:nvPr/>
        </p:nvSpPr>
        <p:spPr>
          <a:xfrm>
            <a:off x="7306149" y="5498402"/>
            <a:ext cx="1095468" cy="18940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3ED855-03C3-39B5-9F53-9432E465C47A}"/>
              </a:ext>
            </a:extLst>
          </p:cNvPr>
          <p:cNvSpPr/>
          <p:nvPr/>
        </p:nvSpPr>
        <p:spPr>
          <a:xfrm>
            <a:off x="488977" y="3164619"/>
            <a:ext cx="4146633" cy="54864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07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447074E-9E2F-15E2-58BD-06F7FF5FD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37" y="2864443"/>
            <a:ext cx="8213726" cy="3229915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" y="353114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New Untagged Pseudo-Tie</a:t>
            </a:r>
            <a:br>
              <a:rPr lang="en-US" dirty="0"/>
            </a:br>
            <a:r>
              <a:rPr lang="en-US" dirty="0"/>
              <a:t>Using NITS Application Number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D9631-0D80-4195-AD8B-51B9BB06E83B}"/>
              </a:ext>
            </a:extLst>
          </p:cNvPr>
          <p:cNvSpPr txBox="1"/>
          <p:nvPr/>
        </p:nvSpPr>
        <p:spPr>
          <a:xfrm>
            <a:off x="0" y="1402123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Use of NITS Application Number and NITS Resource Errors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Must enter the Encumbered Resource name as registered in webTrans Application Detail – NITS Resource Description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entered incorrectly a Data Entry Error will pop 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D072D3-FBF0-4524-CFFB-126A3D3547A3}"/>
              </a:ext>
            </a:extLst>
          </p:cNvPr>
          <p:cNvSpPr/>
          <p:nvPr/>
        </p:nvSpPr>
        <p:spPr>
          <a:xfrm>
            <a:off x="615635" y="5590445"/>
            <a:ext cx="2218099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868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5137" y="82471"/>
            <a:ext cx="8213725" cy="11430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Modify Untagged Pseudo-Tie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014F16-0F60-4D4E-BF5C-147B53913965}"/>
              </a:ext>
            </a:extLst>
          </p:cNvPr>
          <p:cNvSpPr txBox="1"/>
          <p:nvPr/>
        </p:nvSpPr>
        <p:spPr>
          <a:xfrm>
            <a:off x="241728" y="3241821"/>
            <a:ext cx="78864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When clicking on the      icon an Encumbrance Request Entry box will open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Enter the Encumbrance Information by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Selecting the Transmission Provider from the dropdown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Selecting the Encumbrance Ref number from the dropdown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Selecting the Action MODIFY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D84761F-6E35-4735-94CA-3D229B19C534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8" y="2128564"/>
            <a:ext cx="8503920" cy="73152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D07FDEF-ADE8-4443-867B-352773F944A6}"/>
              </a:ext>
            </a:extLst>
          </p:cNvPr>
          <p:cNvSpPr txBox="1"/>
          <p:nvPr/>
        </p:nvSpPr>
        <p:spPr>
          <a:xfrm>
            <a:off x="0" y="1346772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Once the Encumbrances or Encumbrance Request Summary is open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Click on the       icon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F7D44E3-A2E3-4F0B-8871-35BF46866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297" y="1665591"/>
            <a:ext cx="257175" cy="28575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FF13017-0451-47B1-8FF3-D8EB012486AA}"/>
              </a:ext>
            </a:extLst>
          </p:cNvPr>
          <p:cNvSpPr/>
          <p:nvPr/>
        </p:nvSpPr>
        <p:spPr>
          <a:xfrm>
            <a:off x="7461560" y="2615941"/>
            <a:ext cx="215774" cy="2456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228040F-83A0-7A2A-40F1-6765154DE66E}"/>
              </a:ext>
            </a:extLst>
          </p:cNvPr>
          <p:cNvCxnSpPr>
            <a:cxnSpLocks/>
            <a:stCxn id="26" idx="2"/>
            <a:endCxn id="27" idx="1"/>
          </p:cNvCxnSpPr>
          <p:nvPr/>
        </p:nvCxnSpPr>
        <p:spPr>
          <a:xfrm>
            <a:off x="2218885" y="1951341"/>
            <a:ext cx="5242675" cy="7874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7277334-5373-C23B-CBE8-6F9710E3B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525" y="3292830"/>
            <a:ext cx="257175" cy="285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DA6D6E-E068-D1CC-0552-27F98C235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47" y="4998608"/>
            <a:ext cx="8503920" cy="77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43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091B68D-CF47-25D5-2A15-2691DE3F6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33" y="3205657"/>
            <a:ext cx="8213726" cy="27977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08766E2-1764-4A8D-A15A-0E194FA3F5C3}"/>
              </a:ext>
            </a:extLst>
          </p:cNvPr>
          <p:cNvSpPr txBox="1"/>
          <p:nvPr/>
        </p:nvSpPr>
        <p:spPr>
          <a:xfrm>
            <a:off x="0" y="1674290"/>
            <a:ext cx="914399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Fill in required boxes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Only editable information will be in the Encumbrance Profile area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Start/Stop, MW, Encumbered Ref, and Encumbered Resource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Click the Submit button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5135" y="136525"/>
            <a:ext cx="8213725" cy="11430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Modify Untagged Pseudo Tie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D8474C-84CD-4E48-A6B6-C495E64D62AC}"/>
              </a:ext>
            </a:extLst>
          </p:cNvPr>
          <p:cNvSpPr/>
          <p:nvPr/>
        </p:nvSpPr>
        <p:spPr>
          <a:xfrm>
            <a:off x="465133" y="4843458"/>
            <a:ext cx="8213725" cy="115990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3E082D-8AEA-6ED9-A9D2-8EF2B64AE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163" y="2669676"/>
            <a:ext cx="352425" cy="24765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513D901-5C63-0E2F-5A58-EE6B6BD75942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4084588" y="2793501"/>
            <a:ext cx="4289867" cy="4838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94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A7B5C08-694E-F610-A6E0-2916E0BBF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4" y="3374462"/>
            <a:ext cx="8163931" cy="2436603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" y="353114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Encumbrances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D9631-0D80-4195-AD8B-51B9BB06E83B}"/>
              </a:ext>
            </a:extLst>
          </p:cNvPr>
          <p:cNvSpPr txBox="1"/>
          <p:nvPr/>
        </p:nvSpPr>
        <p:spPr>
          <a:xfrm>
            <a:off x="0" y="1402123"/>
            <a:ext cx="9144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All Approved Encumbrances will be populated in the Encumbrance page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In the Composite Mode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Encumbrance Ref Number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Posting Ref Number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Capacity Encumbered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D072D3-FBF0-4524-CFFB-126A3D3547A3}"/>
              </a:ext>
            </a:extLst>
          </p:cNvPr>
          <p:cNvSpPr/>
          <p:nvPr/>
        </p:nvSpPr>
        <p:spPr>
          <a:xfrm>
            <a:off x="1421395" y="4074408"/>
            <a:ext cx="606584" cy="13193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AD9A82-138F-AB4F-3ACB-653661B5FB86}"/>
              </a:ext>
            </a:extLst>
          </p:cNvPr>
          <p:cNvSpPr/>
          <p:nvPr/>
        </p:nvSpPr>
        <p:spPr>
          <a:xfrm>
            <a:off x="2027979" y="4077857"/>
            <a:ext cx="516046" cy="13193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6BA51A-A94D-8C83-03E9-2F8B38FB8B94}"/>
              </a:ext>
            </a:extLst>
          </p:cNvPr>
          <p:cNvSpPr/>
          <p:nvPr/>
        </p:nvSpPr>
        <p:spPr>
          <a:xfrm>
            <a:off x="2847317" y="3875231"/>
            <a:ext cx="606583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5C0382-A475-92A1-510A-26586AF765D4}"/>
              </a:ext>
            </a:extLst>
          </p:cNvPr>
          <p:cNvSpPr/>
          <p:nvPr/>
        </p:nvSpPr>
        <p:spPr>
          <a:xfrm>
            <a:off x="5665963" y="4077857"/>
            <a:ext cx="516046" cy="13193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74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83E43C-B9CB-26B4-FC5F-7BFFEC4E1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4" y="3642674"/>
            <a:ext cx="8163932" cy="1937548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" y="353114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Encumbrances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D9631-0D80-4195-AD8B-51B9BB06E83B}"/>
              </a:ext>
            </a:extLst>
          </p:cNvPr>
          <p:cNvSpPr txBox="1"/>
          <p:nvPr/>
        </p:nvSpPr>
        <p:spPr>
          <a:xfrm>
            <a:off x="0" y="1402123"/>
            <a:ext cx="9144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All Approved Encumbrances will be populated in the Encumbrance page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In the Detailed Mode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Encumbrance Ref Number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Posting Ref Number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Capacity Encumbered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Encumbered Ref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Encumbered Resource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D072D3-FBF0-4524-CFFB-126A3D3547A3}"/>
              </a:ext>
            </a:extLst>
          </p:cNvPr>
          <p:cNvSpPr/>
          <p:nvPr/>
        </p:nvSpPr>
        <p:spPr>
          <a:xfrm>
            <a:off x="1421395" y="4423807"/>
            <a:ext cx="606584" cy="13193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AD9A82-138F-AB4F-3ACB-653661B5FB86}"/>
              </a:ext>
            </a:extLst>
          </p:cNvPr>
          <p:cNvSpPr/>
          <p:nvPr/>
        </p:nvSpPr>
        <p:spPr>
          <a:xfrm>
            <a:off x="2027979" y="4423806"/>
            <a:ext cx="516046" cy="13193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6BA51A-A94D-8C83-03E9-2F8B38FB8B94}"/>
              </a:ext>
            </a:extLst>
          </p:cNvPr>
          <p:cNvSpPr/>
          <p:nvPr/>
        </p:nvSpPr>
        <p:spPr>
          <a:xfrm>
            <a:off x="3370906" y="4200776"/>
            <a:ext cx="606583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A83D43-3EB9-B2B0-A07C-2A2D90990F2C}"/>
              </a:ext>
            </a:extLst>
          </p:cNvPr>
          <p:cNvSpPr/>
          <p:nvPr/>
        </p:nvSpPr>
        <p:spPr>
          <a:xfrm>
            <a:off x="6145794" y="4399954"/>
            <a:ext cx="734840" cy="16555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A6BD7E-72B1-4DBC-5D10-4233961FF078}"/>
              </a:ext>
            </a:extLst>
          </p:cNvPr>
          <p:cNvSpPr/>
          <p:nvPr/>
        </p:nvSpPr>
        <p:spPr>
          <a:xfrm>
            <a:off x="6880634" y="4399953"/>
            <a:ext cx="734840" cy="16555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E0DBB9-9336-5583-BF75-77FADD523286}"/>
              </a:ext>
            </a:extLst>
          </p:cNvPr>
          <p:cNvSpPr/>
          <p:nvPr/>
        </p:nvSpPr>
        <p:spPr>
          <a:xfrm>
            <a:off x="5629748" y="4399953"/>
            <a:ext cx="516046" cy="16555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77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9CEF947-690A-CC9D-0430-D66A5DFEF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3" y="3183314"/>
            <a:ext cx="8197852" cy="2757453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" y="353114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Encumbrances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D9631-0D80-4195-AD8B-51B9BB06E83B}"/>
              </a:ext>
            </a:extLst>
          </p:cNvPr>
          <p:cNvSpPr txBox="1"/>
          <p:nvPr/>
        </p:nvSpPr>
        <p:spPr>
          <a:xfrm>
            <a:off x="1" y="1515961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Filtering for more specific Encumbrance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Clicking on the       icon will open the Filtering Option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Ability to change the view Mode to either Composite or Detailed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C967D-296E-38C7-BD6A-3F50CCA14BB2}"/>
              </a:ext>
            </a:extLst>
          </p:cNvPr>
          <p:cNvSpPr/>
          <p:nvPr/>
        </p:nvSpPr>
        <p:spPr>
          <a:xfrm>
            <a:off x="7650179" y="3284072"/>
            <a:ext cx="135805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AC9F28-D102-54B1-9D4C-1E829A457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776" y="1863326"/>
            <a:ext cx="238125" cy="2286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69418AE-5FDB-E59B-E2DB-BCF5723CC3E5}"/>
              </a:ext>
            </a:extLst>
          </p:cNvPr>
          <p:cNvSpPr/>
          <p:nvPr/>
        </p:nvSpPr>
        <p:spPr>
          <a:xfrm>
            <a:off x="7377066" y="4241244"/>
            <a:ext cx="1106031" cy="37602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59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0D1B8EE-BBA7-8367-3EEF-5B73565BE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32" y="3997757"/>
            <a:ext cx="8010023" cy="170055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" y="353114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Encumbrance Request Summary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D9631-0D80-4195-AD8B-51B9BB06E83B}"/>
              </a:ext>
            </a:extLst>
          </p:cNvPr>
          <p:cNvSpPr txBox="1"/>
          <p:nvPr/>
        </p:nvSpPr>
        <p:spPr>
          <a:xfrm>
            <a:off x="1" y="1308395"/>
            <a:ext cx="9144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All NEW and MODIFIED Encumbrances will be populated in the Encumbrance Request Summary page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Posting Ref number associated for each Encumbrance Ref number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Each time a modification is made to an Encumbrance Ref there will be a new Posting Ref number given to it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The last Approved Posting Ref number will be the one associated with the Encumbrance Ref number on the Encumbrance page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9EAAEF-2AF1-AF6B-1972-D106F9D80067}"/>
              </a:ext>
            </a:extLst>
          </p:cNvPr>
          <p:cNvSpPr/>
          <p:nvPr/>
        </p:nvSpPr>
        <p:spPr>
          <a:xfrm>
            <a:off x="496432" y="4694151"/>
            <a:ext cx="962465" cy="8554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02A549-C87F-59B9-CA0A-15E011FDEA20}"/>
              </a:ext>
            </a:extLst>
          </p:cNvPr>
          <p:cNvSpPr/>
          <p:nvPr/>
        </p:nvSpPr>
        <p:spPr>
          <a:xfrm>
            <a:off x="496431" y="4925069"/>
            <a:ext cx="962465" cy="521574"/>
          </a:xfrm>
          <a:prstGeom prst="rect">
            <a:avLst/>
          </a:prstGeom>
          <a:noFill/>
          <a:ln w="9525">
            <a:solidFill>
              <a:srgbClr val="008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71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" y="353114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Encumbrance Request Summary</a:t>
            </a:r>
            <a:br>
              <a:rPr lang="en-US" dirty="0"/>
            </a:br>
            <a:r>
              <a:rPr lang="en-US" dirty="0"/>
              <a:t>Continued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D9631-0D80-4195-AD8B-51B9BB06E83B}"/>
              </a:ext>
            </a:extLst>
          </p:cNvPr>
          <p:cNvSpPr txBox="1"/>
          <p:nvPr/>
        </p:nvSpPr>
        <p:spPr>
          <a:xfrm>
            <a:off x="1" y="1484592"/>
            <a:ext cx="9144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Highlighted Encumbrance Ref number have Provider Approval (Y)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Un-Highlighted Encumbrance Rev number are NOT Approved (N) or in Review (R)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Each Posting Ref and Encumbrance Ref posts the Pseudo Tie ID associated with it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Each Posting Ref and Encumbrance Ref posts the Encumbered Ref associated with 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81BAC2-EA19-ECBF-E7F6-141D02BD3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5" y="3689143"/>
            <a:ext cx="8209198" cy="25519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C7B81D6-A9E6-6A6C-97FA-6383CBC262F0}"/>
              </a:ext>
            </a:extLst>
          </p:cNvPr>
          <p:cNvSpPr/>
          <p:nvPr/>
        </p:nvSpPr>
        <p:spPr>
          <a:xfrm>
            <a:off x="6824050" y="4352239"/>
            <a:ext cx="530907" cy="18136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7B2BDC-6BB0-9339-67B5-FCC2EE15550B}"/>
              </a:ext>
            </a:extLst>
          </p:cNvPr>
          <p:cNvSpPr/>
          <p:nvPr/>
        </p:nvSpPr>
        <p:spPr>
          <a:xfrm>
            <a:off x="5624467" y="4352238"/>
            <a:ext cx="592184" cy="1813611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9EAAEF-2AF1-AF6B-1972-D106F9D80067}"/>
              </a:ext>
            </a:extLst>
          </p:cNvPr>
          <p:cNvSpPr/>
          <p:nvPr/>
        </p:nvSpPr>
        <p:spPr>
          <a:xfrm>
            <a:off x="237685" y="4352239"/>
            <a:ext cx="962465" cy="18136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02A549-C87F-59B9-CA0A-15E011FDEA20}"/>
              </a:ext>
            </a:extLst>
          </p:cNvPr>
          <p:cNvSpPr/>
          <p:nvPr/>
        </p:nvSpPr>
        <p:spPr>
          <a:xfrm>
            <a:off x="237685" y="4925069"/>
            <a:ext cx="962465" cy="280083"/>
          </a:xfrm>
          <a:prstGeom prst="rect">
            <a:avLst/>
          </a:prstGeom>
          <a:noFill/>
          <a:ln w="9525">
            <a:solidFill>
              <a:srgbClr val="008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3DE5DB-82D1-FB7F-C45E-6C39A7712054}"/>
              </a:ext>
            </a:extLst>
          </p:cNvPr>
          <p:cNvSpPr/>
          <p:nvPr/>
        </p:nvSpPr>
        <p:spPr>
          <a:xfrm>
            <a:off x="2903552" y="4328513"/>
            <a:ext cx="490683" cy="1813611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05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2CA769-F97D-585A-CA90-FCDCF7CE9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72" y="2067265"/>
            <a:ext cx="8265754" cy="136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04AA40-8969-2BE0-46F0-41BCC4FDE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22" y="3981211"/>
            <a:ext cx="8265755" cy="9408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46D52D-62E6-B354-5F43-1215CE584B3C}"/>
              </a:ext>
            </a:extLst>
          </p:cNvPr>
          <p:cNvSpPr txBox="1"/>
          <p:nvPr/>
        </p:nvSpPr>
        <p:spPr>
          <a:xfrm>
            <a:off x="1" y="1407374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Clicking on the Encumbrance Ref number from either the Encumbrance tab or the Encumbrance Request Summary tab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" y="353114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Encumbrance Ref Actions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C967D-296E-38C7-BD6A-3F50CCA14BB2}"/>
              </a:ext>
            </a:extLst>
          </p:cNvPr>
          <p:cNvSpPr/>
          <p:nvPr/>
        </p:nvSpPr>
        <p:spPr>
          <a:xfrm>
            <a:off x="1384283" y="2682881"/>
            <a:ext cx="627397" cy="70634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9418AE-5FDB-E59B-E2DB-BCF5723CC3E5}"/>
              </a:ext>
            </a:extLst>
          </p:cNvPr>
          <p:cNvSpPr/>
          <p:nvPr/>
        </p:nvSpPr>
        <p:spPr>
          <a:xfrm>
            <a:off x="1384285" y="4431612"/>
            <a:ext cx="627395" cy="490408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944724-FD5F-8820-F097-E31366D8D4D5}"/>
              </a:ext>
            </a:extLst>
          </p:cNvPr>
          <p:cNvSpPr txBox="1"/>
          <p:nvPr/>
        </p:nvSpPr>
        <p:spPr>
          <a:xfrm>
            <a:off x="-33952" y="355993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Opens a new Encumbrance tab for just that specific Encumbrance Ref number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FE21D0A-FE14-3D4C-1B4F-F6457275A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72" y="5462190"/>
            <a:ext cx="8265755" cy="72954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99225DF-BAB0-394B-3780-382876CFA40D}"/>
              </a:ext>
            </a:extLst>
          </p:cNvPr>
          <p:cNvSpPr txBox="1"/>
          <p:nvPr/>
        </p:nvSpPr>
        <p:spPr>
          <a:xfrm>
            <a:off x="1" y="5046691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Clicking on an Encumbrance Ref opens just that Posting Ref number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6A1D18-B635-8A13-5F53-CF7403819CDA}"/>
              </a:ext>
            </a:extLst>
          </p:cNvPr>
          <p:cNvSpPr/>
          <p:nvPr/>
        </p:nvSpPr>
        <p:spPr>
          <a:xfrm>
            <a:off x="1384284" y="5862146"/>
            <a:ext cx="1112426" cy="32640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80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E48B95-14CE-2751-52E5-BB2A50510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18" y="4434043"/>
            <a:ext cx="8265754" cy="18191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" y="353114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Posting Ref Actions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D9631-0D80-4195-AD8B-51B9BB06E83B}"/>
              </a:ext>
            </a:extLst>
          </p:cNvPr>
          <p:cNvSpPr txBox="1"/>
          <p:nvPr/>
        </p:nvSpPr>
        <p:spPr>
          <a:xfrm>
            <a:off x="-52805" y="1367694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Detailed Posting Ref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Clicking on the Posting Ref number will open a new tab with that specific Encumbrance Request detailed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C967D-296E-38C7-BD6A-3F50CCA14BB2}"/>
              </a:ext>
            </a:extLst>
          </p:cNvPr>
          <p:cNvSpPr/>
          <p:nvPr/>
        </p:nvSpPr>
        <p:spPr>
          <a:xfrm>
            <a:off x="7650179" y="3284072"/>
            <a:ext cx="135805" cy="1991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9418AE-5FDB-E59B-E2DB-BCF5723CC3E5}"/>
              </a:ext>
            </a:extLst>
          </p:cNvPr>
          <p:cNvSpPr/>
          <p:nvPr/>
        </p:nvSpPr>
        <p:spPr>
          <a:xfrm>
            <a:off x="411718" y="5916286"/>
            <a:ext cx="1384005" cy="29414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227118-3ED3-9A7F-38E5-A9A7CCEF2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18" y="2291024"/>
            <a:ext cx="8265754" cy="136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43AA23-F28B-CE46-4921-A48543FF00BA}"/>
              </a:ext>
            </a:extLst>
          </p:cNvPr>
          <p:cNvSpPr txBox="1"/>
          <p:nvPr/>
        </p:nvSpPr>
        <p:spPr>
          <a:xfrm>
            <a:off x="1" y="3753376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Clicking on the Encumbered Ref number located in the Encumbrance Request Profile will open the Transmission Reservation Detail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DDDDCE-B2DF-31E3-1770-C7D497FABB19}"/>
              </a:ext>
            </a:extLst>
          </p:cNvPr>
          <p:cNvSpPr/>
          <p:nvPr/>
        </p:nvSpPr>
        <p:spPr>
          <a:xfrm>
            <a:off x="1981020" y="2902242"/>
            <a:ext cx="517084" cy="67994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83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E149F3-6A97-0E0A-BAA9-B26EF209E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08" y="3055166"/>
            <a:ext cx="8010023" cy="2064955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" y="353114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Encumbrances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D9631-0D80-4195-AD8B-51B9BB06E83B}"/>
              </a:ext>
            </a:extLst>
          </p:cNvPr>
          <p:cNvSpPr txBox="1"/>
          <p:nvPr/>
        </p:nvSpPr>
        <p:spPr>
          <a:xfrm>
            <a:off x="-1" y="1572778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Transmission Reservation Detail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Clicking on the MW Grant in the TSR Information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Opens the Reservation Profile Detail of the Encumbered MWs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C967D-296E-38C7-BD6A-3F50CCA14BB2}"/>
              </a:ext>
            </a:extLst>
          </p:cNvPr>
          <p:cNvSpPr/>
          <p:nvPr/>
        </p:nvSpPr>
        <p:spPr>
          <a:xfrm>
            <a:off x="7793271" y="3398199"/>
            <a:ext cx="561172" cy="37602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39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2F4DE7-B5AB-F480-1A1E-DECB955AB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4" y="3429000"/>
            <a:ext cx="8010023" cy="155141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" y="353114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Encumbrances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D9631-0D80-4195-AD8B-51B9BB06E83B}"/>
              </a:ext>
            </a:extLst>
          </p:cNvPr>
          <p:cNvSpPr txBox="1"/>
          <p:nvPr/>
        </p:nvSpPr>
        <p:spPr>
          <a:xfrm>
            <a:off x="1" y="1515961"/>
            <a:ext cx="9144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Reservation Profile Detail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Shows Available MWs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Granted MW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Show the Encumbered MWs along with the type of Encumbrance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NOTE – The Encumbered MWs are not cumulative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NET remaining MWs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9418AE-5FDB-E59B-E2DB-BCF5723CC3E5}"/>
              </a:ext>
            </a:extLst>
          </p:cNvPr>
          <p:cNvSpPr/>
          <p:nvPr/>
        </p:nvSpPr>
        <p:spPr>
          <a:xfrm>
            <a:off x="2923452" y="3746500"/>
            <a:ext cx="2069084" cy="114974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35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5137" y="353114"/>
            <a:ext cx="8213725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Dynamic Notifications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E43087-BF9A-B7F5-446E-06C6FB74533B}"/>
              </a:ext>
            </a:extLst>
          </p:cNvPr>
          <p:cNvSpPr txBox="1"/>
          <p:nvPr/>
        </p:nvSpPr>
        <p:spPr>
          <a:xfrm>
            <a:off x="242840" y="1566407"/>
            <a:ext cx="8288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Dynamic Notifications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The Notification Entry has been updated to show the e-mail addresses in list format, allowing OASIS users to easily add/delete rows.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Change Impacts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– Notification (Admin &gt; Notification). </a:t>
            </a:r>
            <a:r>
              <a:rPr lang="en-US" dirty="0"/>
              <a:t>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8CFEC0-01F3-EF60-88E3-729BF51AF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52" y="3157368"/>
            <a:ext cx="4666268" cy="213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88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BB4EF-0CA4-411F-BD26-B450238F3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37" y="159545"/>
            <a:ext cx="8213725" cy="11430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94149-9166-42F3-803A-0F2E83032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Contact: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dirty="0">
                <a:latin typeface="Calibri" panose="020F0502020204030204" pitchFamily="34" charset="0"/>
              </a:rPr>
              <a:t>John Marhoefer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dirty="0">
                <a:latin typeface="Calibri" panose="020F0502020204030204" pitchFamily="34" charset="0"/>
                <a:hlinkClick r:id="rId2"/>
              </a:rPr>
              <a:t>JMarhoefer@misoenergy.org</a:t>
            </a:r>
            <a:endParaRPr lang="en-US" dirty="0">
              <a:latin typeface="Calibri" panose="020F0502020204030204" pitchFamily="34" charset="0"/>
            </a:endParaRPr>
          </a:p>
          <a:p>
            <a:pPr marL="800100" lvl="2" indent="0">
              <a:spcBef>
                <a:spcPts val="0"/>
              </a:spcBef>
              <a:buNone/>
            </a:pPr>
            <a:r>
              <a:rPr lang="en-US" dirty="0">
                <a:latin typeface="Calibri" panose="020F0502020204030204" pitchFamily="34" charset="0"/>
              </a:rPr>
              <a:t>317-249-5306</a:t>
            </a:r>
          </a:p>
          <a:p>
            <a:pPr marL="800100" lvl="2" indent="0">
              <a:spcBef>
                <a:spcPts val="0"/>
              </a:spcBef>
              <a:buNone/>
            </a:pPr>
            <a:endParaRPr lang="en-US" dirty="0">
              <a:latin typeface="Calibri" panose="020F0502020204030204" pitchFamily="34" charset="0"/>
            </a:endParaRPr>
          </a:p>
          <a:p>
            <a:pPr marL="800100" lvl="2" indent="0">
              <a:spcBef>
                <a:spcPts val="0"/>
              </a:spcBef>
              <a:buNone/>
            </a:pPr>
            <a:r>
              <a:rPr lang="en-US" dirty="0">
                <a:latin typeface="Calibri" panose="020F0502020204030204" pitchFamily="34" charset="0"/>
              </a:rPr>
              <a:t>Darrin Landstrom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3"/>
              </a:rPr>
              <a:t>DLandstrom@misoenergy.org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800100" lvl="2" indent="0">
              <a:spcBef>
                <a:spcPts val="0"/>
              </a:spcBef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651-632-8524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E9B4A-2320-4662-B433-017E965ECD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40020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MISO Theme">
      <a:dk1>
        <a:sysClr val="windowText" lastClr="000000"/>
      </a:dk1>
      <a:lt1>
        <a:sysClr val="window" lastClr="FFFFFF"/>
      </a:lt1>
      <a:dk2>
        <a:srgbClr val="5C6670"/>
      </a:dk2>
      <a:lt2>
        <a:srgbClr val="E6E6E6"/>
      </a:lt2>
      <a:accent1>
        <a:srgbClr val="0082CA"/>
      </a:accent1>
      <a:accent2>
        <a:srgbClr val="82BC00"/>
      </a:accent2>
      <a:accent3>
        <a:srgbClr val="57BFE3"/>
      </a:accent3>
      <a:accent4>
        <a:srgbClr val="FA8D00"/>
      </a:accent4>
      <a:accent5>
        <a:srgbClr val="802500"/>
      </a:accent5>
      <a:accent6>
        <a:srgbClr val="77226C"/>
      </a:accent6>
      <a:hlink>
        <a:srgbClr val="000A8B"/>
      </a:hlink>
      <a:folHlink>
        <a:srgbClr val="5C1C4F"/>
      </a:folHlink>
    </a:clrScheme>
    <a:fontScheme name="Custom 1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 xmlns="0d225819-6cc8-449e-835a-ddb6c2144091">
      <Url>https://thegrid.misoenergy.org/Docs/PublishingImages/MISO_PPT4_thumb.png.png</Url>
      <Description>https://thegrid.misoenergy.org/Docs/PublishingImages/MISO_PPT4_thumb.png.png</Description>
    </Image>
    <DocumentDescription xmlns="0d225819-6cc8-449e-835a-ddb6c2144091">MISO 2 is an approved template design.</DocumentDescription>
    <PublishingExpirationDate xmlns="http://schemas.microsoft.com/sharepoint/v3" xsi:nil="true"/>
    <DocumentCategory xmlns="0d225819-6cc8-449e-835a-ddb6c2144091">PowerPoint</DocumentCategory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B48AF6E1ADE04FAE4BDEBFFAC59C20" ma:contentTypeVersion="30" ma:contentTypeDescription="Create a new document." ma:contentTypeScope="" ma:versionID="18356f92e36ee3efa49e0e06b0634acc">
  <xsd:schema xmlns:xsd="http://www.w3.org/2001/XMLSchema" xmlns:xs="http://www.w3.org/2001/XMLSchema" xmlns:p="http://schemas.microsoft.com/office/2006/metadata/properties" xmlns:ns1="http://schemas.microsoft.com/sharepoint/v3" xmlns:ns2="0d225819-6cc8-449e-835a-ddb6c2144091" targetNamespace="http://schemas.microsoft.com/office/2006/metadata/properties" ma:root="true" ma:fieldsID="67ace9a2db7c448d0db04b046c3dbcd2" ns1:_="" ns2:_="">
    <xsd:import namespace="http://schemas.microsoft.com/sharepoint/v3"/>
    <xsd:import namespace="0d225819-6cc8-449e-835a-ddb6c2144091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DocumentCategory" minOccurs="0"/>
                <xsd:element ref="ns2:DocumentDescription" minOccurs="0"/>
                <xsd:element ref="ns2:Im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225819-6cc8-449e-835a-ddb6c2144091" elementFormDefault="qualified">
    <xsd:import namespace="http://schemas.microsoft.com/office/2006/documentManagement/types"/>
    <xsd:import namespace="http://schemas.microsoft.com/office/infopath/2007/PartnerControls"/>
    <xsd:element name="DocumentCategory" ma:index="10" nillable="true" ma:displayName="Document Category" ma:format="Dropdown" ma:internalName="DocumentCategory">
      <xsd:simpleType>
        <xsd:restriction base="dms:Choice">
          <xsd:enumeration value="Branding Assistance"/>
          <xsd:enumeration value="Corporate Presentations"/>
          <xsd:enumeration value="Corporate Maps, Images, and Logos"/>
          <xsd:enumeration value="Focus Framework Form"/>
          <xsd:enumeration value="Outlook"/>
          <xsd:enumeration value="Photos for External Use"/>
          <xsd:enumeration value="PowerPoint"/>
          <xsd:enumeration value="Word"/>
        </xsd:restriction>
      </xsd:simpleType>
    </xsd:element>
    <xsd:element name="DocumentDescription" ma:index="11" nillable="true" ma:displayName="Document Description" ma:internalName="DocumentDescription">
      <xsd:simpleType>
        <xsd:restriction base="dms:Note">
          <xsd:maxLength value="255"/>
        </xsd:restriction>
      </xsd:simpleType>
    </xsd:element>
    <xsd:element name="Image" ma:index="1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7A00F-5695-4E94-9555-450677143CD6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d225819-6cc8-449e-835a-ddb6c2144091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3307BA1-90E7-41EC-8185-CC446C896B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d225819-6cc8-449e-835a-ddb6c21440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48322EC-3B89-4AC1-866C-1130376F7C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125771</TotalTime>
  <Words>993</Words>
  <Application>Microsoft Office PowerPoint</Application>
  <PresentationFormat>On-screen Show (4:3)</PresentationFormat>
  <Paragraphs>154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Calibri</vt:lpstr>
      <vt:lpstr>Trebuchet MS</vt:lpstr>
      <vt:lpstr>Arial</vt:lpstr>
      <vt:lpstr>Lato</vt:lpstr>
      <vt:lpstr>Default Theme</vt:lpstr>
      <vt:lpstr>FERC Order 676j Managed Encumbrance</vt:lpstr>
      <vt:lpstr>Managed Encumbrance</vt:lpstr>
      <vt:lpstr>FERC Order 676j –  Managed Encumbrance and Dynamic Notifications </vt:lpstr>
      <vt:lpstr>Adding New Managed Encumbrance – Untagged Pseudo-Ties</vt:lpstr>
      <vt:lpstr>New Managed Encumbrance </vt:lpstr>
      <vt:lpstr>New Encumbrance Request</vt:lpstr>
      <vt:lpstr>New Encumbrance Request </vt:lpstr>
      <vt:lpstr>New Untagged Pseudo Tie  Using PTP</vt:lpstr>
      <vt:lpstr>New Untagged Pseudo Tie  Using NITS TSR</vt:lpstr>
      <vt:lpstr>New Untagged Pseudo Tie  Using NITS Application Number</vt:lpstr>
      <vt:lpstr>New Untagged Pseudo-Tie Using NITS Application Number </vt:lpstr>
      <vt:lpstr>New Untagged Pseudo-Tie Using NITS Application Number </vt:lpstr>
      <vt:lpstr>Modify Untagged Pseudo-Tie</vt:lpstr>
      <vt:lpstr>Modify Untagged Pseudo Tie </vt:lpstr>
      <vt:lpstr>Encumbrances </vt:lpstr>
      <vt:lpstr>Encumbrances </vt:lpstr>
      <vt:lpstr>Encumbrances </vt:lpstr>
      <vt:lpstr>Encumbrance Request Summary </vt:lpstr>
      <vt:lpstr>Encumbrance Request Summary Continued </vt:lpstr>
      <vt:lpstr>Encumbrance Ref Actions </vt:lpstr>
      <vt:lpstr>Posting Ref Actions </vt:lpstr>
      <vt:lpstr>Encumbrances </vt:lpstr>
      <vt:lpstr>Encumbrances </vt:lpstr>
      <vt:lpstr>Dynamic Notifications 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Lakisha Johnson</dc:creator>
  <cp:lastModifiedBy>Darrin Landstrom</cp:lastModifiedBy>
  <cp:revision>284</cp:revision>
  <dcterms:created xsi:type="dcterms:W3CDTF">2016-06-03T17:12:18Z</dcterms:created>
  <dcterms:modified xsi:type="dcterms:W3CDTF">2023-02-21T17:18:24Z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0x0101006DB48AF6E1ADE04FAE4BDEBFFAC59C20</vt:lpwstr>
  </property>
</Properties>
</file>