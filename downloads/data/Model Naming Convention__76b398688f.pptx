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5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3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1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0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8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1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8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5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3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B1A27-FD47-44CA-8F96-865047E0B7E5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02C59-4272-4A09-81BD-28E28FD9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131861"/>
              </p:ext>
            </p:extLst>
          </p:nvPr>
        </p:nvGraphicFramePr>
        <p:xfrm>
          <a:off x="2483252" y="3173239"/>
          <a:ext cx="6767137" cy="8746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2249">
                  <a:extLst>
                    <a:ext uri="{9D8B030D-6E8A-4147-A177-3AD203B41FA5}">
                      <a16:colId xmlns:a16="http://schemas.microsoft.com/office/drawing/2014/main" val="2564933976"/>
                    </a:ext>
                  </a:extLst>
                </a:gridCol>
                <a:gridCol w="865615">
                  <a:extLst>
                    <a:ext uri="{9D8B030D-6E8A-4147-A177-3AD203B41FA5}">
                      <a16:colId xmlns:a16="http://schemas.microsoft.com/office/drawing/2014/main" val="671010426"/>
                    </a:ext>
                  </a:extLst>
                </a:gridCol>
                <a:gridCol w="673819">
                  <a:extLst>
                    <a:ext uri="{9D8B030D-6E8A-4147-A177-3AD203B41FA5}">
                      <a16:colId xmlns:a16="http://schemas.microsoft.com/office/drawing/2014/main" val="2465765190"/>
                    </a:ext>
                  </a:extLst>
                </a:gridCol>
                <a:gridCol w="754879">
                  <a:extLst>
                    <a:ext uri="{9D8B030D-6E8A-4147-A177-3AD203B41FA5}">
                      <a16:colId xmlns:a16="http://schemas.microsoft.com/office/drawing/2014/main" val="3678386672"/>
                    </a:ext>
                  </a:extLst>
                </a:gridCol>
                <a:gridCol w="680333">
                  <a:extLst>
                    <a:ext uri="{9D8B030D-6E8A-4147-A177-3AD203B41FA5}">
                      <a16:colId xmlns:a16="http://schemas.microsoft.com/office/drawing/2014/main" val="1118342261"/>
                    </a:ext>
                  </a:extLst>
                </a:gridCol>
                <a:gridCol w="1004577">
                  <a:extLst>
                    <a:ext uri="{9D8B030D-6E8A-4147-A177-3AD203B41FA5}">
                      <a16:colId xmlns:a16="http://schemas.microsoft.com/office/drawing/2014/main" val="3947372137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3562246104"/>
                    </a:ext>
                  </a:extLst>
                </a:gridCol>
                <a:gridCol w="750537">
                  <a:extLst>
                    <a:ext uri="{9D8B030D-6E8A-4147-A177-3AD203B41FA5}">
                      <a16:colId xmlns:a16="http://schemas.microsoft.com/office/drawing/2014/main" val="3875085861"/>
                    </a:ext>
                  </a:extLst>
                </a:gridCol>
                <a:gridCol w="790343">
                  <a:extLst>
                    <a:ext uri="{9D8B030D-6E8A-4147-A177-3AD203B41FA5}">
                      <a16:colId xmlns:a16="http://schemas.microsoft.com/office/drawing/2014/main" val="1641703470"/>
                    </a:ext>
                  </a:extLst>
                </a:gridCol>
              </a:tblGrid>
              <a:tr h="4326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DIS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948163"/>
                  </a:ext>
                </a:extLst>
              </a:tr>
              <a:tr h="4420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DISIS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Study Year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  <a:effectLst/>
                        </a:rPr>
                        <a:t>Cluster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Case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  <a:effectLst/>
                        </a:rPr>
                        <a:t>Service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Season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2742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49200"/>
              </p:ext>
            </p:extLst>
          </p:nvPr>
        </p:nvGraphicFramePr>
        <p:xfrm>
          <a:off x="1961571" y="252146"/>
          <a:ext cx="7810501" cy="2365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8196">
                  <a:extLst>
                    <a:ext uri="{9D8B030D-6E8A-4147-A177-3AD203B41FA5}">
                      <a16:colId xmlns:a16="http://schemas.microsoft.com/office/drawing/2014/main" val="3577315082"/>
                    </a:ext>
                  </a:extLst>
                </a:gridCol>
                <a:gridCol w="1109026">
                  <a:extLst>
                    <a:ext uri="{9D8B030D-6E8A-4147-A177-3AD203B41FA5}">
                      <a16:colId xmlns:a16="http://schemas.microsoft.com/office/drawing/2014/main" val="2024841603"/>
                    </a:ext>
                  </a:extLst>
                </a:gridCol>
                <a:gridCol w="1451862">
                  <a:extLst>
                    <a:ext uri="{9D8B030D-6E8A-4147-A177-3AD203B41FA5}">
                      <a16:colId xmlns:a16="http://schemas.microsoft.com/office/drawing/2014/main" val="1367253687"/>
                    </a:ext>
                  </a:extLst>
                </a:gridCol>
                <a:gridCol w="1451862">
                  <a:extLst>
                    <a:ext uri="{9D8B030D-6E8A-4147-A177-3AD203B41FA5}">
                      <a16:colId xmlns:a16="http://schemas.microsoft.com/office/drawing/2014/main" val="1528209230"/>
                    </a:ext>
                  </a:extLst>
                </a:gridCol>
                <a:gridCol w="971229">
                  <a:extLst>
                    <a:ext uri="{9D8B030D-6E8A-4147-A177-3AD203B41FA5}">
                      <a16:colId xmlns:a16="http://schemas.microsoft.com/office/drawing/2014/main" val="2390842955"/>
                    </a:ext>
                  </a:extLst>
                </a:gridCol>
                <a:gridCol w="903989">
                  <a:extLst>
                    <a:ext uri="{9D8B030D-6E8A-4147-A177-3AD203B41FA5}">
                      <a16:colId xmlns:a16="http://schemas.microsoft.com/office/drawing/2014/main" val="2232404330"/>
                    </a:ext>
                  </a:extLst>
                </a:gridCol>
                <a:gridCol w="814337">
                  <a:extLst>
                    <a:ext uri="{9D8B030D-6E8A-4147-A177-3AD203B41FA5}">
                      <a16:colId xmlns:a16="http://schemas.microsoft.com/office/drawing/2014/main" val="493991525"/>
                    </a:ext>
                  </a:extLst>
                </a:gridCol>
              </a:tblGrid>
              <a:tr h="301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Service Type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Dispatch Scenario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Year 2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Year 5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PQ Models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CQ Models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8876270"/>
                  </a:ext>
                </a:extLst>
              </a:tr>
              <a:tr h="60897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ERIS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HVER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 Summer, 5 groups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 Summer, 5 groups - Winter, 5 groups - Light Load, 5 groups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0979028"/>
                  </a:ext>
                </a:extLst>
              </a:tr>
              <a:tr h="4550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LVER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 Summer, SPP Region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 Summer, SPP Region - Winter, SPP Region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9556674"/>
                  </a:ext>
                </a:extLst>
              </a:tr>
              <a:tr h="7629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effectLst/>
                        </a:rPr>
                        <a:t>NRIS</a:t>
                      </a:r>
                      <a:endParaRPr lang="en-US" sz="1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 Summer, SPP Region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Summer, SPP Region - Winter, SPP Region - Light Load, 5 groups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6126183"/>
                  </a:ext>
                </a:extLst>
              </a:tr>
              <a:tr h="147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62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870178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742758"/>
              </p:ext>
            </p:extLst>
          </p:nvPr>
        </p:nvGraphicFramePr>
        <p:xfrm>
          <a:off x="600364" y="4603918"/>
          <a:ext cx="2325833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961">
                  <a:extLst>
                    <a:ext uri="{9D8B030D-6E8A-4147-A177-3AD203B41FA5}">
                      <a16:colId xmlns:a16="http://schemas.microsoft.com/office/drawing/2014/main" val="799787550"/>
                    </a:ext>
                  </a:extLst>
                </a:gridCol>
                <a:gridCol w="1833872">
                  <a:extLst>
                    <a:ext uri="{9D8B030D-6E8A-4147-A177-3AD203B41FA5}">
                      <a16:colId xmlns:a16="http://schemas.microsoft.com/office/drawing/2014/main" val="3346524936"/>
                    </a:ext>
                  </a:extLst>
                </a:gridCol>
              </a:tblGrid>
              <a:tr h="213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/>
                          </a:solidFill>
                        </a:rPr>
                        <a:t>Case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586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BC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Base Case (PQ Models)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04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Transfer Case (CQ Models)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1636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385646"/>
              </p:ext>
            </p:extLst>
          </p:nvPr>
        </p:nvGraphicFramePr>
        <p:xfrm>
          <a:off x="3281072" y="4603917"/>
          <a:ext cx="1825106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47">
                  <a:extLst>
                    <a:ext uri="{9D8B030D-6E8A-4147-A177-3AD203B41FA5}">
                      <a16:colId xmlns:a16="http://schemas.microsoft.com/office/drawing/2014/main" val="799787550"/>
                    </a:ext>
                  </a:extLst>
                </a:gridCol>
                <a:gridCol w="1439059">
                  <a:extLst>
                    <a:ext uri="{9D8B030D-6E8A-4147-A177-3AD203B41FA5}">
                      <a16:colId xmlns:a16="http://schemas.microsoft.com/office/drawing/2014/main" val="3346524936"/>
                    </a:ext>
                  </a:extLst>
                </a:gridCol>
              </a:tblGrid>
              <a:tr h="213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/>
                          </a:solidFill>
                        </a:rPr>
                        <a:t>Group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586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All groups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04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01 North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1636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02 Nebraska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8748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03 Central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64747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04 Southeast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0242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05 Southwest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89111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487105"/>
              </p:ext>
            </p:extLst>
          </p:nvPr>
        </p:nvGraphicFramePr>
        <p:xfrm>
          <a:off x="7555044" y="4603917"/>
          <a:ext cx="1632298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65">
                  <a:extLst>
                    <a:ext uri="{9D8B030D-6E8A-4147-A177-3AD203B41FA5}">
                      <a16:colId xmlns:a16="http://schemas.microsoft.com/office/drawing/2014/main" val="799787550"/>
                    </a:ext>
                  </a:extLst>
                </a:gridCol>
                <a:gridCol w="1287033">
                  <a:extLst>
                    <a:ext uri="{9D8B030D-6E8A-4147-A177-3AD203B41FA5}">
                      <a16:colId xmlns:a16="http://schemas.microsoft.com/office/drawing/2014/main" val="3346524936"/>
                    </a:ext>
                  </a:extLst>
                </a:gridCol>
              </a:tblGrid>
              <a:tr h="213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586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Year 2</a:t>
                      </a:r>
                      <a:r>
                        <a:rPr lang="en-US" sz="1100" baseline="0" dirty="0" smtClean="0"/>
                        <a:t> from ITP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04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Year 5 from ITP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1636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13844"/>
              </p:ext>
            </p:extLst>
          </p:nvPr>
        </p:nvGraphicFramePr>
        <p:xfrm>
          <a:off x="9531006" y="4603917"/>
          <a:ext cx="1478742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0">
                  <a:extLst>
                    <a:ext uri="{9D8B030D-6E8A-4147-A177-3AD203B41FA5}">
                      <a16:colId xmlns:a16="http://schemas.microsoft.com/office/drawing/2014/main" val="799787550"/>
                    </a:ext>
                  </a:extLst>
                </a:gridCol>
                <a:gridCol w="995022">
                  <a:extLst>
                    <a:ext uri="{9D8B030D-6E8A-4147-A177-3AD203B41FA5}">
                      <a16:colId xmlns:a16="http://schemas.microsoft.com/office/drawing/2014/main" val="3346524936"/>
                    </a:ext>
                  </a:extLst>
                </a:gridCol>
              </a:tblGrid>
              <a:tr h="213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/>
                          </a:solidFill>
                        </a:rPr>
                        <a:t>Season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586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Summer Peak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04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WP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Winter</a:t>
                      </a:r>
                      <a:r>
                        <a:rPr lang="en-US" sz="1100" baseline="0" dirty="0" smtClean="0"/>
                        <a:t> Peak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1636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Light Load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47719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505538"/>
              </p:ext>
            </p:extLst>
          </p:nvPr>
        </p:nvGraphicFramePr>
        <p:xfrm>
          <a:off x="5461053" y="4603917"/>
          <a:ext cx="1889971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339">
                  <a:extLst>
                    <a:ext uri="{9D8B030D-6E8A-4147-A177-3AD203B41FA5}">
                      <a16:colId xmlns:a16="http://schemas.microsoft.com/office/drawing/2014/main" val="799787550"/>
                    </a:ext>
                  </a:extLst>
                </a:gridCol>
                <a:gridCol w="1297632">
                  <a:extLst>
                    <a:ext uri="{9D8B030D-6E8A-4147-A177-3AD203B41FA5}">
                      <a16:colId xmlns:a16="http://schemas.microsoft.com/office/drawing/2014/main" val="3346524936"/>
                    </a:ext>
                  </a:extLst>
                </a:gridCol>
              </a:tblGrid>
              <a:tr h="213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/>
                          </a:solidFill>
                        </a:rPr>
                        <a:t>Service</a:t>
                      </a:r>
                      <a:r>
                        <a:rPr lang="en-US" sz="1100" b="0" baseline="0" dirty="0" smtClean="0">
                          <a:solidFill>
                            <a:schemeClr val="tx1"/>
                          </a:solidFill>
                        </a:rPr>
                        <a:t> Type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586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ERIS (HVER</a:t>
                      </a:r>
                      <a:r>
                        <a:rPr lang="en-US" sz="1100" baseline="0" dirty="0" smtClean="0"/>
                        <a:t> &amp; LVER)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042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NRIS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1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87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177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Southwest Power 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Pryor</dc:creator>
  <cp:lastModifiedBy>Katherine Rogers</cp:lastModifiedBy>
  <cp:revision>6</cp:revision>
  <dcterms:created xsi:type="dcterms:W3CDTF">2023-01-25T16:28:34Z</dcterms:created>
  <dcterms:modified xsi:type="dcterms:W3CDTF">2023-08-02T14:12:12Z</dcterms:modified>
</cp:coreProperties>
</file>